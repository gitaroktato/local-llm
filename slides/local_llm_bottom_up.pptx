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3" r:id="rId6"/>
    <p:sldId id="261" r:id="rId7"/>
    <p:sldId id="262" r:id="rId8"/>
    <p:sldId id="260" r:id="rId9"/>
    <p:sldId id="264" r:id="rId10"/>
    <p:sldId id="266" r:id="rId11"/>
    <p:sldId id="268" r:id="rId12"/>
    <p:sldId id="267" r:id="rId13"/>
    <p:sldId id="270" r:id="rId14"/>
    <p:sldId id="271" r:id="rId15"/>
    <p:sldId id="265" r:id="rId16"/>
    <p:sldId id="272" r:id="rId17"/>
    <p:sldId id="274" r:id="rId18"/>
    <p:sldId id="275" r:id="rId19"/>
    <p:sldId id="276" r:id="rId20"/>
    <p:sldId id="273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748B5-E92F-4FAC-B73A-E5E6667DB3C3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B31FB-F7C0-4CC8-AF56-7E81B7A6D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19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B31FB-F7C0-4CC8-AF56-7E81B7A6DF4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08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4085-E36D-F078-F0B2-C492AC0C8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AA079-4619-C8C2-E2F9-387771AE2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11F76-5A86-52B7-DB03-77028DF4A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6619A-E7CB-5BAD-E039-EF8238F7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EA0D8-56C1-0385-79AC-0A3C30C0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114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9DFB-6195-6780-3F54-25FEBED3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FF93D-9C7A-D72C-815F-A1AE060E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A965-5506-5B3F-3A20-4DABEE10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F055D-D5EA-4927-D985-1215C40F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DC6A2-7366-A189-35E0-A757B4C0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97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0EAE-2384-1613-409F-07789225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08EA3-2B82-FDFF-3349-6AFA92D0C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5B08-B1C9-9326-97A8-B132B08A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F708A-D6D1-44CE-313B-910BDD1F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E4EA6-690A-C757-4FF5-2643FBFB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56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8CD7-688A-98DD-19B8-064A1ECC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75706-348C-D07E-4F92-3AC6715A3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56F51-6055-0406-69F0-F03C19460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F6D2E-0C9E-3A8F-33DE-2C58C6DA3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7431C-52EB-E468-2AC4-4AC473A5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4E1C7-45C3-7928-B8CE-B51177DB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09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44BA-4E88-5FF5-BD1B-833B7AE5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A4696-7704-F92F-7945-90E659C5E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4A928-2AFA-1CC4-A32C-0B00C69CA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4EC47-7DEA-6271-FB1B-EB2B5A330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AE89F-8289-948F-5280-CCF8BF674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23D36-26B2-04E7-EFC9-788937398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8F262-79D1-C17B-267F-5A2DB3D8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7CB3B5-DE99-6964-CF7B-ECD77729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066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F32C-3AB5-9EF3-C91F-3F63829A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3861D-88D1-D861-0716-2700A8830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83896-7907-79CD-6496-895C02C4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6CFAE-1A4A-6374-6526-E90D352A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3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0244E-6FEF-F273-5E5C-8ED146FC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AE7C5B-C781-CE1F-B27A-789E87BC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A9C62-8E6A-D49B-FB36-CF7673EC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5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9EDF-F065-D1DC-FA5A-F62C7B37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C459-F708-4A5F-81BF-D7087ED4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A63CC-6A88-B4CA-BCB2-A37FFB3DE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9E63F-FB67-FB1B-DF99-BB49BECD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C30DC-0052-AEBB-AA83-35CBDC53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3BFF5-DF9B-C562-E0E6-0F3DFF2A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96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7ED7-07CD-D484-05A5-BF56D7C5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E2AD6-1CF5-347F-7B61-9BA06054D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2356B-A235-4270-08CA-5A5BE0113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EA655-3850-AD51-E1D0-E0931766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DC989-1811-20F6-27B9-73E2580E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78D88-3DC4-9412-6733-A63BB543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3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35DD-37B4-E71E-AEF6-4B9DB538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F5CC5-56F3-1309-8FE2-681DE4FF2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99D08-F5F5-5F9E-DEF6-36EA1D0D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897CD-DA25-9CD6-B370-B153B6366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3B9FB-9887-E32B-D4E8-620FC30A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19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91AD5-D743-C034-8E3B-1EFA6FB62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77D04-76DF-E248-ACED-72F741771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A9B7-35D0-3498-7173-96D605CB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863F9-2659-82D4-CE2B-774C0F34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F404-AFF6-2E0A-4E12-1225BD43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48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B9D5E-2C3A-62E7-0B77-53E8F63F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428BE-9645-7256-B81A-401204A1F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EA0C-151D-65E0-0A67-BF57F391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84146-E351-4CF8-A0F2-8019D45D9A09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6737D-0C17-C7CB-D646-60E6195C5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1C25A-73FE-D151-4337-0F83C53A0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2A8D9-46C4-40DC-BEC1-DB04CA1F7D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44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3663-06BF-8FCA-C81C-AD26902D6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Local LLMs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0E7B0-06A9-CFC8-BC4A-3F2A3B0F67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bottom-up approach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622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EC504F-6C2A-DCDB-813F-B37B29A7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877DA-CA92-D341-7028-01A39AADE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740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5DB6-176F-1427-6EB2-813C0DF7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PSU and Power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EC69B1-DA80-3A93-1F6F-9759B2E53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Add2PSU – daisy chain</a:t>
            </a:r>
            <a:endParaRPr lang="en-GB" dirty="0"/>
          </a:p>
        </p:txBody>
      </p:sp>
      <p:pic>
        <p:nvPicPr>
          <p:cNvPr id="12" name="Content Placeholder 11" descr="Lian Li Dual Power Supply Adapter Cable">
            <a:extLst>
              <a:ext uri="{FF2B5EF4-FFF2-40B4-BE49-F238E27FC236}">
                <a16:creationId xmlns:a16="http://schemas.microsoft.com/office/drawing/2014/main" id="{6625B9BB-E8DA-FDA3-D9EC-49892938C4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7901" y="2837681"/>
            <a:ext cx="2427952" cy="147884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94B463-9820-0EA0-9EC1-8B1B9A629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1000W – good quality</a:t>
            </a:r>
            <a:endParaRPr lang="en-GB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1CE8498-F8B0-DF8E-1E02-F80BA6F1097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38404" y="2505075"/>
            <a:ext cx="3684588" cy="3684588"/>
          </a:xfrm>
          <a:prstGeom prst="rect">
            <a:avLst/>
          </a:prstGeom>
        </p:spPr>
      </p:pic>
      <p:pic>
        <p:nvPicPr>
          <p:cNvPr id="13" name="Picture 12" descr="Add2PSU">
            <a:extLst>
              <a:ext uri="{FF2B5EF4-FFF2-40B4-BE49-F238E27FC236}">
                <a16:creationId xmlns:a16="http://schemas.microsoft.com/office/drawing/2014/main" id="{20BDA8B8-2DF8-84FF-5892-DC6789C0B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478" y="3464069"/>
            <a:ext cx="2466064" cy="1766599"/>
          </a:xfrm>
          <a:prstGeom prst="rect">
            <a:avLst/>
          </a:prstGeom>
        </p:spPr>
      </p:pic>
      <p:pic>
        <p:nvPicPr>
          <p:cNvPr id="14" name="Picture 13" descr="Add2PSU Daisy Chain Corsair PSU">
            <a:extLst>
              <a:ext uri="{FF2B5EF4-FFF2-40B4-BE49-F238E27FC236}">
                <a16:creationId xmlns:a16="http://schemas.microsoft.com/office/drawing/2014/main" id="{E1962A14-AE94-8163-D754-EE571C606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64" y="4407349"/>
            <a:ext cx="1812456" cy="21123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0051CA-372B-8AB5-69DA-CBC0E6F67575}"/>
              </a:ext>
            </a:extLst>
          </p:cNvPr>
          <p:cNvSpPr txBox="1"/>
          <p:nvPr/>
        </p:nvSpPr>
        <p:spPr>
          <a:xfrm>
            <a:off x="140858" y="6443146"/>
            <a:ext cx="1079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https://www.legitreviews.com/add2psu-daisy-chain-power-supply-adapter-review_1698</a:t>
            </a:r>
          </a:p>
        </p:txBody>
      </p:sp>
    </p:spTree>
    <p:extLst>
      <p:ext uri="{BB962C8B-B14F-4D97-AF65-F5344CB8AC3E}">
        <p14:creationId xmlns:p14="http://schemas.microsoft.com/office/powerpoint/2010/main" val="155475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D0747-D609-2CC0-03C8-6CC9145C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Bifurcation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647F55-A800-FA23-9BBE-BF98D7A17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 descr="MEG X870E GODLIKE">
            <a:extLst>
              <a:ext uri="{FF2B5EF4-FFF2-40B4-BE49-F238E27FC236}">
                <a16:creationId xmlns:a16="http://schemas.microsoft.com/office/drawing/2014/main" id="{84AC6AE9-D3CC-146D-88B7-EF80D4506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358" y="1349375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0BB4E8-FFF4-7890-9B62-848BA2CC26AF}"/>
              </a:ext>
            </a:extLst>
          </p:cNvPr>
          <p:cNvSpPr txBox="1"/>
          <p:nvPr/>
        </p:nvSpPr>
        <p:spPr>
          <a:xfrm>
            <a:off x="140858" y="6443146"/>
            <a:ext cx="1079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https://us.msi.com/blog/pcie-lane-bifurcation-and-bandwidth-sharing-on-msi-x870e-x870-motherboards</a:t>
            </a:r>
          </a:p>
        </p:txBody>
      </p:sp>
    </p:spTree>
    <p:extLst>
      <p:ext uri="{BB962C8B-B14F-4D97-AF65-F5344CB8AC3E}">
        <p14:creationId xmlns:p14="http://schemas.microsoft.com/office/powerpoint/2010/main" val="347089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98A3-16A3-7AC9-F1D3-A7F67C4B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Motherboard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9B7-14F7-700E-AB8B-6D043F0DF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M.2 </a:t>
            </a:r>
            <a:r>
              <a:rPr lang="en-US" dirty="0" err="1"/>
              <a:t>NVMe</a:t>
            </a:r>
            <a:r>
              <a:rPr lang="en-US" dirty="0"/>
              <a:t> slot 0 issues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Offers PCIe 5.0 x8 bifurcation</a:t>
            </a:r>
            <a:endParaRPr lang="en-GB" dirty="0"/>
          </a:p>
        </p:txBody>
      </p:sp>
      <p:pic>
        <p:nvPicPr>
          <p:cNvPr id="4" name="Picture 3" descr="https://dlcdnwebimgs.asus.com/gain/E47DDB71-DD59-4079-918D-1E9E2C17CDAF/w2000/h1470">
            <a:extLst>
              <a:ext uri="{FF2B5EF4-FFF2-40B4-BE49-F238E27FC236}">
                <a16:creationId xmlns:a16="http://schemas.microsoft.com/office/drawing/2014/main" id="{995D1ABD-41C9-62F6-9574-C08EF6A97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91" r="21411"/>
          <a:stretch>
            <a:fillRect/>
          </a:stretch>
        </p:blipFill>
        <p:spPr>
          <a:xfrm>
            <a:off x="7194697" y="1541083"/>
            <a:ext cx="3593805" cy="47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07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8842-0EEE-C75A-6D3C-71566EB5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x16 – flexible cables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BBD9C2-39E8-0C4E-028F-75BB8BD63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514" y="1846890"/>
            <a:ext cx="4024076" cy="4288867"/>
          </a:xfrm>
          <a:prstGeom prst="rect">
            <a:avLst/>
          </a:prstGeom>
        </p:spPr>
      </p:pic>
      <p:pic>
        <p:nvPicPr>
          <p:cNvPr id="6" name="Picture 5" descr="K33UF-TL,K33UF-TR,K33UR-TL,K33UR-TR">
            <a:extLst>
              <a:ext uri="{FF2B5EF4-FFF2-40B4-BE49-F238E27FC236}">
                <a16:creationId xmlns:a16="http://schemas.microsoft.com/office/drawing/2014/main" id="{06A742BF-0AE6-0DEC-8F8D-C1FB6BE6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642405"/>
            <a:ext cx="2543382" cy="2543382"/>
          </a:xfrm>
          <a:prstGeom prst="rect">
            <a:avLst/>
          </a:prstGeom>
        </p:spPr>
      </p:pic>
      <p:pic>
        <p:nvPicPr>
          <p:cNvPr id="7" name="Picture 6" descr="K33UF-TL,K33UF-TR,K33UR-TL,K33UR-TR">
            <a:extLst>
              <a:ext uri="{FF2B5EF4-FFF2-40B4-BE49-F238E27FC236}">
                <a16:creationId xmlns:a16="http://schemas.microsoft.com/office/drawing/2014/main" id="{6CD62D1D-528A-4058-BCBF-6229FAB69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487" y="1738973"/>
            <a:ext cx="2446814" cy="2446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7DBB2D-7E27-9747-5612-CDEDB77ED9A2}"/>
              </a:ext>
            </a:extLst>
          </p:cNvPr>
          <p:cNvSpPr txBox="1"/>
          <p:nvPr/>
        </p:nvSpPr>
        <p:spPr>
          <a:xfrm>
            <a:off x="140858" y="6443146"/>
            <a:ext cx="1079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https://www.adtlink.com/product/K33Ux-T.html</a:t>
            </a:r>
          </a:p>
        </p:txBody>
      </p:sp>
    </p:spTree>
    <p:extLst>
      <p:ext uri="{BB962C8B-B14F-4D97-AF65-F5344CB8AC3E}">
        <p14:creationId xmlns:p14="http://schemas.microsoft.com/office/powerpoint/2010/main" val="69460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4AE3-3FC7-74B0-0E37-842DB9AC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PCIE x16 – flexible cables</a:t>
            </a:r>
            <a:endParaRPr lang="en-GB" dirty="0"/>
          </a:p>
        </p:txBody>
      </p:sp>
      <p:pic>
        <p:nvPicPr>
          <p:cNvPr id="4" name="Content Placeholder 3" descr="pcie5-flex.jpg">
            <a:extLst>
              <a:ext uri="{FF2B5EF4-FFF2-40B4-BE49-F238E27FC236}">
                <a16:creationId xmlns:a16="http://schemas.microsoft.com/office/drawing/2014/main" id="{60459B16-4A3A-9E08-65DF-69B7AB93C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409" y="1924862"/>
            <a:ext cx="5801784" cy="4351338"/>
          </a:xfrm>
          <a:prstGeom prst="rect">
            <a:avLst/>
          </a:prstGeom>
        </p:spPr>
      </p:pic>
      <p:pic>
        <p:nvPicPr>
          <p:cNvPr id="5" name="Picture 4" descr="pcie-flex2.jpg">
            <a:extLst>
              <a:ext uri="{FF2B5EF4-FFF2-40B4-BE49-F238E27FC236}">
                <a16:creationId xmlns:a16="http://schemas.microsoft.com/office/drawing/2014/main" id="{295665A9-0AD9-21B1-028E-03C206A3D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94702" y="1528781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1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5D3D-14DF-DF05-4E35-3B9DEA89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Laying Down Two GPUs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453B-A330-B6BE-2B23-073865017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 descr="r/nvidia - PCIE 5.0 X16 Riser Cable Advice">
            <a:extLst>
              <a:ext uri="{FF2B5EF4-FFF2-40B4-BE49-F238E27FC236}">
                <a16:creationId xmlns:a16="http://schemas.microsoft.com/office/drawing/2014/main" id="{AF812B83-2F74-696C-32A2-13E2F66C6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2550042" cy="2239256"/>
          </a:xfrm>
          <a:prstGeom prst="rect">
            <a:avLst/>
          </a:prstGeom>
        </p:spPr>
      </p:pic>
      <p:pic>
        <p:nvPicPr>
          <p:cNvPr id="5" name="Picture 4" descr="CDN media">
            <a:extLst>
              <a:ext uri="{FF2B5EF4-FFF2-40B4-BE49-F238E27FC236}">
                <a16:creationId xmlns:a16="http://schemas.microsoft.com/office/drawing/2014/main" id="{7B550C68-C457-0355-C1F3-37C65AE68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64881"/>
            <a:ext cx="2540677" cy="2357184"/>
          </a:xfrm>
          <a:prstGeom prst="rect">
            <a:avLst/>
          </a:prstGeom>
        </p:spPr>
      </p:pic>
      <p:pic>
        <p:nvPicPr>
          <p:cNvPr id="6" name="Picture 5" descr="dual-gpu-no-thermal.jpg">
            <a:extLst>
              <a:ext uri="{FF2B5EF4-FFF2-40B4-BE49-F238E27FC236}">
                <a16:creationId xmlns:a16="http://schemas.microsoft.com/office/drawing/2014/main" id="{F5BB5550-B151-E45B-E359-9C896EDB3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831" y="1358194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6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3F8C3-8B4B-E7E5-DECD-28497DE7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C085-566B-CDF7-F8B6-79786A16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Laying Down Two GPUs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22C07-9CD0-0F5A-21B6-53F090A1B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FEF1-8771-2181-E1FF-AD6B4F5A5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51" y="1665290"/>
            <a:ext cx="3657143" cy="477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D068F9-D689-C515-82A9-86B315551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954" y="2161954"/>
            <a:ext cx="4641502" cy="377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3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07FE9-E481-C722-7924-E1E01AE1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pu-mount-screw.jpg">
            <a:extLst>
              <a:ext uri="{FF2B5EF4-FFF2-40B4-BE49-F238E27FC236}">
                <a16:creationId xmlns:a16="http://schemas.microsoft.com/office/drawing/2014/main" id="{E3CE90D0-43BE-DBAE-8DBF-B24569AC8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41" y="1825624"/>
            <a:ext cx="3663951" cy="27479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E43A9-8E93-5689-A603-DA199C82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Laying Down Two GPUs</a:t>
            </a:r>
            <a:endParaRPr lang="en-GB" dirty="0"/>
          </a:p>
        </p:txBody>
      </p:sp>
      <p:pic>
        <p:nvPicPr>
          <p:cNvPr id="5" name="Content Placeholder 4" descr="gpu-mount-short-2.jpg">
            <a:extLst>
              <a:ext uri="{FF2B5EF4-FFF2-40B4-BE49-F238E27FC236}">
                <a16:creationId xmlns:a16="http://schemas.microsoft.com/office/drawing/2014/main" id="{4A56FF59-4D64-88E6-7608-54463995D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08906" y="1825625"/>
            <a:ext cx="3663951" cy="2747963"/>
          </a:xfrm>
          <a:prstGeom prst="rect">
            <a:avLst/>
          </a:prstGeom>
        </p:spPr>
      </p:pic>
      <p:pic>
        <p:nvPicPr>
          <p:cNvPr id="4" name="Picture 3" descr="gpu-mount-short-1.jpg">
            <a:extLst>
              <a:ext uri="{FF2B5EF4-FFF2-40B4-BE49-F238E27FC236}">
                <a16:creationId xmlns:a16="http://schemas.microsoft.com/office/drawing/2014/main" id="{2B6D3D2C-72C6-589B-301A-0E90A7865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765" y="3873086"/>
            <a:ext cx="3663951" cy="2747963"/>
          </a:xfrm>
          <a:prstGeom prst="rect">
            <a:avLst/>
          </a:prstGeom>
        </p:spPr>
      </p:pic>
      <p:pic>
        <p:nvPicPr>
          <p:cNvPr id="7" name="Picture 6" descr="gpu-mount-vertical.jpg">
            <a:extLst>
              <a:ext uri="{FF2B5EF4-FFF2-40B4-BE49-F238E27FC236}">
                <a16:creationId xmlns:a16="http://schemas.microsoft.com/office/drawing/2014/main" id="{5A3EA205-885B-7CD9-CB61-F25EC11D7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10" y="2874203"/>
            <a:ext cx="3720548" cy="279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7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BE9D-ECB0-FE6C-1665-8EECF3FD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5E3D-7D15-3559-9BB9-E3AF7505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Laying Down Two GPUs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2B067F-5810-23F2-5DD5-10CC24D4F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9" name="Picture 8" descr="case-change.jpg">
            <a:extLst>
              <a:ext uri="{FF2B5EF4-FFF2-40B4-BE49-F238E27FC236}">
                <a16:creationId xmlns:a16="http://schemas.microsoft.com/office/drawing/2014/main" id="{00A00A61-33E3-20B7-E178-74C6419D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703" y="1825625"/>
            <a:ext cx="5637097" cy="4227823"/>
          </a:xfrm>
          <a:prstGeom prst="rect">
            <a:avLst/>
          </a:prstGeom>
        </p:spPr>
      </p:pic>
      <p:pic>
        <p:nvPicPr>
          <p:cNvPr id="10" name="Picture 9" descr="old-case.jpg">
            <a:extLst>
              <a:ext uri="{FF2B5EF4-FFF2-40B4-BE49-F238E27FC236}">
                <a16:creationId xmlns:a16="http://schemas.microsoft.com/office/drawing/2014/main" id="{DB78015A-6E98-20C6-F5AA-28D19EA1A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31214" y="2387497"/>
            <a:ext cx="4494972" cy="337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6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EE17-9249-4DDE-8C11-1B0C196F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7CD5-04CD-CEEC-6B40-DC2DC771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Laying Down Two GPUs</a:t>
            </a:r>
            <a:endParaRPr lang="en-GB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725A006-37A7-CDB1-4717-ED5BAF77B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9" name="Picture 18" descr="hardware-offline-2.jpg">
            <a:extLst>
              <a:ext uri="{FF2B5EF4-FFF2-40B4-BE49-F238E27FC236}">
                <a16:creationId xmlns:a16="http://schemas.microsoft.com/office/drawing/2014/main" id="{73702A7B-F6CB-B462-C1FE-623EE577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83" y="1533111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41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45E8-BF8E-13F0-92EC-220EF594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E2A6B-0E2C-4D94-FF28-569893A6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466CD-9030-E931-8F01-48A6C393F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413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5A790B0-A22C-68B1-9335-8394CA74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nvbandwidth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3328881-F25B-2077-8672-021C62A33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6949" y="1825625"/>
            <a:ext cx="3336851" cy="4351338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~44GB/s bidirectional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theoretical maximum: 63GB/s</a:t>
            </a:r>
          </a:p>
          <a:p>
            <a:pPr>
              <a:spcBef>
                <a:spcPts val="1800"/>
              </a:spcBef>
              <a:spcAft>
                <a:spcPts val="1800"/>
              </a:spcAft>
            </a:pPr>
            <a:endParaRPr lang="en-GB" dirty="0"/>
          </a:p>
        </p:txBody>
      </p:sp>
      <p:pic>
        <p:nvPicPr>
          <p:cNvPr id="11" name="Picture 10" descr="GitHub - NVIDIA/nvbandwidth: A tool for bandwidth measurements on NVIDIA  GPUs. · GitHub">
            <a:extLst>
              <a:ext uri="{FF2B5EF4-FFF2-40B4-BE49-F238E27FC236}">
                <a16:creationId xmlns:a16="http://schemas.microsoft.com/office/drawing/2014/main" id="{9038AB04-A49D-4F0A-6524-64A9BEA2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726864" cy="33634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C8C013-E27A-A809-ADB0-E6ECDEE71C9C}"/>
              </a:ext>
            </a:extLst>
          </p:cNvPr>
          <p:cNvSpPr txBox="1"/>
          <p:nvPr/>
        </p:nvSpPr>
        <p:spPr>
          <a:xfrm>
            <a:off x="140858" y="6443146"/>
            <a:ext cx="1079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https://github.com/gitaroktato/local-llm/blob/main/benchmakrs/pcie_benchmarks.md</a:t>
            </a:r>
          </a:p>
        </p:txBody>
      </p:sp>
    </p:spTree>
    <p:extLst>
      <p:ext uri="{BB962C8B-B14F-4D97-AF65-F5344CB8AC3E}">
        <p14:creationId xmlns:p14="http://schemas.microsoft.com/office/powerpoint/2010/main" val="411405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CAC8-DE59-F88B-B620-464FE474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8A8D3-AF03-B741-6554-C7FB6267A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 descr="tpc-arch.png">
            <a:extLst>
              <a:ext uri="{FF2B5EF4-FFF2-40B4-BE49-F238E27FC236}">
                <a16:creationId xmlns:a16="http://schemas.microsoft.com/office/drawing/2014/main" id="{155CC0E1-33C1-57D5-6D9D-26E853C9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80459"/>
            <a:ext cx="9352722" cy="52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51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F3DF-FE9E-1F28-6960-A73337D0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Qwen 3.8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871D-E7C8-E40C-67F8-D0B2BBCC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08294-E1DC-C0D4-C18E-CBEA99A2BE73}"/>
              </a:ext>
            </a:extLst>
          </p:cNvPr>
          <p:cNvSpPr txBox="1"/>
          <p:nvPr/>
        </p:nvSpPr>
        <p:spPr>
          <a:xfrm>
            <a:off x="140858" y="6443146"/>
            <a:ext cx="1079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/>
              <a:t>https://unsloth.ai/docs/models/qwen3.8#run-qwen3.8-guide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430F4-4039-5A8D-880D-EBD85EC8F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30" y="1390650"/>
            <a:ext cx="9144000" cy="478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39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04E568-9B88-4BC8-7DD8-F927698B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Qwen 3.8 Performance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196924-91A7-D022-DCA4-D81E0F5BB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2218" y="2353297"/>
            <a:ext cx="5381829" cy="302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540C5E-56B2-6BFE-C72B-D11B82FF1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3" t="2169" r="5768" b="3829"/>
          <a:stretch>
            <a:fillRect/>
          </a:stretch>
        </p:blipFill>
        <p:spPr>
          <a:xfrm>
            <a:off x="487953" y="4330325"/>
            <a:ext cx="3792394" cy="2171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360301-9EB7-03B9-CA03-A049072065C2}"/>
              </a:ext>
            </a:extLst>
          </p:cNvPr>
          <p:cNvSpPr txBox="1"/>
          <p:nvPr/>
        </p:nvSpPr>
        <p:spPr>
          <a:xfrm>
            <a:off x="4475891" y="2488594"/>
            <a:ext cx="965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DrawIO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F442F-A70D-8ED0-D658-271102221458}"/>
              </a:ext>
            </a:extLst>
          </p:cNvPr>
          <p:cNvSpPr txBox="1"/>
          <p:nvPr/>
        </p:nvSpPr>
        <p:spPr>
          <a:xfrm>
            <a:off x="8654958" y="5583635"/>
            <a:ext cx="716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PPTX</a:t>
            </a:r>
            <a:endParaRPr lang="en-GB" b="1" dirty="0"/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E625DA56-9189-C398-0E1C-764BA8E0D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97" t="-1301" r="-1319" b="-1106"/>
          <a:stretch>
            <a:fillRect/>
          </a:stretch>
        </p:blipFill>
        <p:spPr>
          <a:xfrm>
            <a:off x="421797" y="1437278"/>
            <a:ext cx="3858550" cy="284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37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5FBA-A975-7E6C-A50A-5065ED39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401E52-C685-8478-F993-7C90292E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Qwen 3.8 Performance - </a:t>
            </a:r>
            <a:r>
              <a:rPr lang="en-US" dirty="0" err="1"/>
              <a:t>FreeCAD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A3E5E-35B6-7E27-6148-096DA0AA8917}"/>
              </a:ext>
            </a:extLst>
          </p:cNvPr>
          <p:cNvSpPr txBox="1"/>
          <p:nvPr/>
        </p:nvSpPr>
        <p:spPr>
          <a:xfrm>
            <a:off x="4475891" y="2488594"/>
            <a:ext cx="111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FreeCAD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AB7E50-7AEA-517C-435A-A92CA383C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23" y="1359227"/>
            <a:ext cx="10090954" cy="53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74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94771-BB13-B1CB-2616-6809849F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6E7B7-083E-4BDF-672D-61866E3E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Qwen 3.8 Performance - </a:t>
            </a:r>
            <a:r>
              <a:rPr lang="en-US" dirty="0" err="1"/>
              <a:t>FreeCAD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FF071C-760D-DEC1-650E-6B2B150CC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Qwen 3.8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D445D5-59AD-6049-9034-D83264443F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C220E6-FB30-8E1D-7CF6-D515C547B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Opus 5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E25634-00BC-B4D2-BFB8-83D6438854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860167-993D-9CF6-4DB8-71B6212C4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05075"/>
            <a:ext cx="2926445" cy="23452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4F829F-4A6A-843A-46F3-60AF910A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7092" y="3809551"/>
            <a:ext cx="2555120" cy="2380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494D2F-01DE-1A4E-B8B0-4C2D0B0E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12" y="2486548"/>
            <a:ext cx="2926445" cy="25130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CBCC62-8FC5-21FC-A989-048DB22AC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896" y="3942319"/>
            <a:ext cx="2823679" cy="226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8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9F05-5952-9D5D-C935-F40570F8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C2DAF9-6B8F-6A3E-2A28-DB596CE9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Giving it a spin!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6768E-C79E-CFB6-7A8E-573B95F0B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85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A5D41C-4375-7791-7299-92A2C4725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52EFB22-A907-8E89-6EAE-EFD478DCA7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93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173</Words>
  <Application>Microsoft Office PowerPoint</Application>
  <PresentationFormat>Widescreen</PresentationFormat>
  <Paragraphs>39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Local LLMs</vt:lpstr>
      <vt:lpstr>Hardware</vt:lpstr>
      <vt:lpstr>PSU and Power</vt:lpstr>
      <vt:lpstr>PCIE Bifurcation</vt:lpstr>
      <vt:lpstr>Motherboard</vt:lpstr>
      <vt:lpstr>PCIE x16 – flexible cables</vt:lpstr>
      <vt:lpstr>PCIE x16 – flexible cables</vt:lpstr>
      <vt:lpstr>Laying Down Two GPUs</vt:lpstr>
      <vt:lpstr>Laying Down Two GPUs</vt:lpstr>
      <vt:lpstr>Laying Down Two GPUs</vt:lpstr>
      <vt:lpstr>Laying Down Two GPUs</vt:lpstr>
      <vt:lpstr>Laying Down Two GPUs</vt:lpstr>
      <vt:lpstr>Running</vt:lpstr>
      <vt:lpstr>nvbandwidth</vt:lpstr>
      <vt:lpstr>Benchmark</vt:lpstr>
      <vt:lpstr>Qwen 3.8</vt:lpstr>
      <vt:lpstr>Qwen 3.8 Performance</vt:lpstr>
      <vt:lpstr>Qwen 3.8 Performance - FreeCAD</vt:lpstr>
      <vt:lpstr>Qwen 3.8 Performance - FreeCAD</vt:lpstr>
      <vt:lpstr>Giving it a spin!</vt:lpstr>
      <vt:lpstr>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Oresztesz Margaritisz</dc:creator>
  <cp:lastModifiedBy>Oresztesz Margaritisz</cp:lastModifiedBy>
  <cp:revision>32</cp:revision>
  <dcterms:created xsi:type="dcterms:W3CDTF">2026-09-25T09:12:44Z</dcterms:created>
  <dcterms:modified xsi:type="dcterms:W3CDTF">2026-10-09T16:04:03Z</dcterms:modified>
</cp:coreProperties>
</file>